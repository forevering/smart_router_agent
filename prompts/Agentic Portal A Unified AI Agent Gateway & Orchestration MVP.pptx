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147482970" r:id="rId3"/>
    <p:sldId id="2147482985" r:id="rId4"/>
    <p:sldId id="2147482987" r:id="rId5"/>
    <p:sldId id="2147482979" r:id="rId6"/>
    <p:sldId id="2147482980" r:id="rId7"/>
    <p:sldId id="2147482981" r:id="rId8"/>
    <p:sldId id="2147482982" r:id="rId9"/>
    <p:sldId id="2147482983" r:id="rId10"/>
    <p:sldId id="2147482984" r:id="rId11"/>
    <p:sldId id="2147482986" r:id="rId12"/>
    <p:sldId id="21474829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A3A"/>
    <a:srgbClr val="75A73F"/>
    <a:srgbClr val="AF1917"/>
    <a:srgbClr val="0A4F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02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Vivien (M/BDO4-PU)" userId="7c31c5c8-61cb-4970-a7ca-97feffb8f910" providerId="ADAL" clId="{7B186B32-805A-498A-9961-031BBA031C3F}"/>
    <pc:docChg chg="modSld">
      <pc:chgData name="ZHENG Vivien (M/BDO4-PU)" userId="7c31c5c8-61cb-4970-a7ca-97feffb8f910" providerId="ADAL" clId="{7B186B32-805A-498A-9961-031BBA031C3F}" dt="2026-04-29T09:38:07.343" v="0" actId="1076"/>
      <pc:docMkLst>
        <pc:docMk/>
      </pc:docMkLst>
      <pc:sldChg chg="modSp mod">
        <pc:chgData name="ZHENG Vivien (M/BDO4-PU)" userId="7c31c5c8-61cb-4970-a7ca-97feffb8f910" providerId="ADAL" clId="{7B186B32-805A-498A-9961-031BBA031C3F}" dt="2026-04-29T09:38:07.343" v="0" actId="1076"/>
        <pc:sldMkLst>
          <pc:docMk/>
          <pc:sldMk cId="4033966158" sldId="2147482980"/>
        </pc:sldMkLst>
        <pc:picChg chg="mod">
          <ac:chgData name="ZHENG Vivien (M/BDO4-PU)" userId="7c31c5c8-61cb-4970-a7ca-97feffb8f910" providerId="ADAL" clId="{7B186B32-805A-498A-9961-031BBA031C3F}" dt="2026-04-29T09:38:07.343" v="0" actId="1076"/>
          <ac:picMkLst>
            <pc:docMk/>
            <pc:sldMk cId="4033966158" sldId="2147482980"/>
            <ac:picMk id="4" creationId="{E2ACE242-DCDD-5C55-4786-66D671322688}"/>
          </ac:picMkLst>
        </pc:picChg>
      </pc:sldChg>
    </pc:docChg>
  </pc:docChgLst>
  <pc:docChgLst>
    <pc:chgData name="ZHENG Vivien (M/BDO4-PU)" userId="7c31c5c8-61cb-4970-a7ca-97feffb8f910" providerId="ADAL" clId="{BE3E3AEF-0284-4DEE-93AC-B487CFF8C2F5}"/>
    <pc:docChg chg="undo custSel addSld delSld modSld">
      <pc:chgData name="ZHENG Vivien (M/BDO4-PU)" userId="7c31c5c8-61cb-4970-a7ca-97feffb8f910" providerId="ADAL" clId="{BE3E3AEF-0284-4DEE-93AC-B487CFF8C2F5}" dt="2026-03-30T08:26:41.395" v="1246" actId="1076"/>
      <pc:docMkLst>
        <pc:docMk/>
      </pc:docMkLst>
      <pc:sldChg chg="addSp modSp new mod">
        <pc:chgData name="ZHENG Vivien (M/BDO4-PU)" userId="7c31c5c8-61cb-4970-a7ca-97feffb8f910" providerId="ADAL" clId="{BE3E3AEF-0284-4DEE-93AC-B487CFF8C2F5}" dt="2026-03-30T08:26:41.395" v="1246" actId="1076"/>
        <pc:sldMkLst>
          <pc:docMk/>
          <pc:sldMk cId="4033966158" sldId="2147482980"/>
        </pc:sldMkLst>
        <pc:picChg chg="add mod">
          <ac:chgData name="ZHENG Vivien (M/BDO4-PU)" userId="7c31c5c8-61cb-4970-a7ca-97feffb8f910" providerId="ADAL" clId="{BE3E3AEF-0284-4DEE-93AC-B487CFF8C2F5}" dt="2026-03-30T08:26:41.395" v="1246" actId="1076"/>
          <ac:picMkLst>
            <pc:docMk/>
            <pc:sldMk cId="4033966158" sldId="2147482980"/>
            <ac:picMk id="4" creationId="{E2ACE242-DCDD-5C55-4786-66D6713226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C6E1B-9618-49C5-90B1-C4A7E41DAC7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25C72-8AE0-483D-B379-AD749BE61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5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3B3A-81E9-89B2-2D52-DB3C3F54D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A811C-203E-73E9-B5CE-39010133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DB3E6-9BA9-47EE-9291-B3C76977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32D5E-2440-3B1D-56D7-D5490FC3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9FBF1-1592-F77E-EE27-ADA07950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8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B9F7-3CAA-9A89-E101-6157D0D2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2D948-7E85-6AC5-9B89-AB631ECB5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8B7EB-BC76-0E2A-9D27-551313F6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0065D-4676-B16A-0500-89B84831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AE8C-C159-8420-6836-85DB6B7B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584A-3B3E-3ECE-6F36-0091782A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F6558-6F2D-AF84-9496-AE772640B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FF64A-1EE5-2C71-C599-E86379E5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BAF28-8A05-A17C-60AC-A1CD2012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69E1B-D848-B06B-F77E-20F28CFD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4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8ABE-9C5C-E32B-17D9-57B5D430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9E7FC-EF37-7EB3-42FB-6FE7E4DC7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F3D5B-C7B1-28E0-DE63-67D239998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F3E43-4B13-7AE0-1B5B-17871B5F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606FA-DF0E-B3F0-F349-5537CA20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A8B5F-8A7A-228D-8792-D3A1FF20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8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7956-A6C8-43A6-F1C4-883E60C6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44526-BF6F-3CB4-BB78-96D100A9D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3181A-1490-7934-9FAC-24AE29C10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A55BE-9952-0FB5-3F3C-EE5387936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AF6EC-E39E-3986-9D15-25185ACC5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8053E-C5FE-E661-11C9-A7530CF1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D31B1-115E-C487-9F7D-E81927FAF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7E473-D404-306A-E201-CA708701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624B-2FD2-150A-A140-0A0B4323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62E07-C94C-2415-1664-195564B7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9CFE6-D5CF-73C5-7E4C-6379B7B40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2C303-27E2-D08A-EA15-C228A9C4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4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FA044-8373-EDD6-9B6F-F35293A0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17A90-619B-A726-D885-5A06DB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0EA2C-506F-026D-12B8-449CCA12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2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E5A8-9A45-78E1-37AA-B9E5BF56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1B1D3-8AC3-A433-6714-C2621703A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90E3D-BB08-C8D3-87B5-32AEA7C2F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08F23-327E-23A1-63B4-3C1B8FA8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DB9B2-44C9-5B23-B67A-3C0588A5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3C8AE-810B-52AB-B4BD-D4BBA9A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1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9DEF-F7F4-74CD-2309-CEC09E8D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53D82-4E73-BD34-4B3A-F5CCD9C66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0A186-20A9-C194-88D8-478D529E3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0C041-EE78-4988-A021-9EA97CA9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A9F14-BA98-F7ED-8C42-C6192F08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95BAA-0BD0-D172-319C-8CE02837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3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BD26-A4A5-4818-7EB5-5A3EE97E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F1B17-BF6E-1DEF-5269-56FA8F6A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E7BA1-1D55-BFDC-B741-9740E037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5FA05-6C4C-7BC8-E4DD-4EDD6D73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D2FA8-C392-C710-222E-745DAC96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40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BCB7F-44B6-0CD0-4C8B-7E2885BAD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99B2-DECB-18C1-5594-C2AEB88D9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09DF1-A1F4-B533-682A-E74E3C43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BEA7A-8B09-0ACF-31AA-F1A4934C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882B8-CB29-CAF9-5C5D-6FF78EC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13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177" y="2892853"/>
            <a:ext cx="10301466" cy="167548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08177" y="4713579"/>
            <a:ext cx="10301466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528" cy="22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189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28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290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4">
          <p15:clr>
            <a:srgbClr val="FBAE40"/>
          </p15:clr>
        </p15:guide>
        <p15:guide id="6" orient="horz" pos="347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EA2AB-4423-A22E-1B39-19375EA5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9E069-9CFE-4EB7-F4DE-A2D676B19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0048F-8B66-7E17-B58D-AD6790A31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EBC95-03E8-4A77-9B70-83235FDC3E4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8297C-88F2-2498-D637-34EA5C5DA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2BEB5-9ACC-C39F-4DBD-EBD8174F8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8CD4-6796-4E35-B05A-2F2C69374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9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820A-A76F-1C83-DAD7-FD7D9E2CD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Agentic Portal: A Unified AI Agent Gateway &amp; Orchestration MVP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7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B27C-B9AE-FEE7-BF47-360AD354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57258-CD30-3049-DB1D-A1ACBE9DFEDB}"/>
              </a:ext>
            </a:extLst>
          </p:cNvPr>
          <p:cNvSpPr txBox="1"/>
          <p:nvPr/>
        </p:nvSpPr>
        <p:spPr>
          <a:xfrm>
            <a:off x="827104" y="239952"/>
            <a:ext cx="934716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Agenda</a:t>
            </a:r>
          </a:p>
          <a:p>
            <a:endParaRPr lang="en-US" sz="2800" b="1" dirty="0"/>
          </a:p>
          <a:p>
            <a:pPr marL="342900" indent="-342900">
              <a:buAutoNum type="arabicParenR"/>
            </a:pPr>
            <a:r>
              <a:rPr lang="en-US" sz="2000" b="1" dirty="0"/>
              <a:t>Project Requirements Overviews</a:t>
            </a:r>
          </a:p>
          <a:p>
            <a:pPr marL="342900" indent="-342900">
              <a:buAutoNum type="arabicParenR"/>
            </a:pPr>
            <a:endParaRPr lang="en-US" sz="2000" b="1" dirty="0"/>
          </a:p>
          <a:p>
            <a:pPr marL="342900" indent="-342900">
              <a:buAutoNum type="arabicParenR"/>
            </a:pPr>
            <a:r>
              <a:rPr lang="en-US" sz="2000" b="1" dirty="0"/>
              <a:t>Project Scope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r>
              <a:rPr lang="en-US" sz="2000" b="1" dirty="0"/>
              <a:t>3)   Core Architecture: Intelligent Routing &amp; MCP Aggregation Gateway</a:t>
            </a:r>
          </a:p>
          <a:p>
            <a:endParaRPr lang="en-US" sz="2000" dirty="0"/>
          </a:p>
          <a:p>
            <a:r>
              <a:rPr lang="en-US" sz="2000" b="1" dirty="0"/>
              <a:t>4)   Milestones &amp; Acceptance Criteria</a:t>
            </a:r>
          </a:p>
          <a:p>
            <a:endParaRPr lang="en-US" sz="2000" dirty="0"/>
          </a:p>
          <a:p>
            <a:r>
              <a:rPr lang="en-US" sz="2000" b="1" dirty="0"/>
              <a:t>5)   Future Evolution Plan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619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3EB04-A06E-6670-DA3E-2312E04E481A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dirty="0"/>
              <a:t>Project Requirements Overviews (4 perspectives)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C54EC-ACD0-90DF-84C0-8BCB7713A358}"/>
              </a:ext>
            </a:extLst>
          </p:cNvPr>
          <p:cNvSpPr txBox="1"/>
          <p:nvPr/>
        </p:nvSpPr>
        <p:spPr>
          <a:xfrm>
            <a:off x="705393" y="825893"/>
            <a:ext cx="1101037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264A3A"/>
                </a:solidFill>
              </a:rPr>
              <a:t>Unified Interaction &amp; Experience</a:t>
            </a:r>
          </a:p>
          <a:p>
            <a:pPr marL="342900" indent="-342900">
              <a:buAutoNum type="arabicPeriod"/>
            </a:pPr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Single-Entry Portal Architecture</a:t>
            </a:r>
          </a:p>
          <a:p>
            <a:r>
              <a:rPr lang="en-US" dirty="0"/>
              <a:t>Establish a centralized Web portal to eliminate the friction of switching between multiple AI applications and chatbots.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Natural Language Intent Interaction</a:t>
            </a:r>
          </a:p>
          <a:p>
            <a:r>
              <a:rPr lang="en-US" dirty="0"/>
              <a:t>Support fully intent-driven inputs, enabling users to invoke diverse AI capabilities without memorizing specific commands.</a:t>
            </a:r>
            <a:endParaRPr lang="en-US" sz="1600" dirty="0">
              <a:solidFill>
                <a:srgbClr val="264A3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460C7-CD5C-9D3C-FCE1-D8A05CA6236B}"/>
              </a:ext>
            </a:extLst>
          </p:cNvPr>
          <p:cNvSpPr txBox="1"/>
          <p:nvPr/>
        </p:nvSpPr>
        <p:spPr>
          <a:xfrm>
            <a:off x="705393" y="3375764"/>
            <a:ext cx="11010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4A3A"/>
                </a:solidFill>
              </a:rPr>
              <a:t>2. Intelligent Routing &amp; Memory Engine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Dynamic Intent Routing</a:t>
            </a:r>
          </a:p>
          <a:p>
            <a:r>
              <a:rPr lang="en-US" dirty="0"/>
              <a:t>Autonomously dispatch queries between MCP tools, vertical bots, and general LLMs based on real-time intent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Session Context Persistence (MVP Core)</a:t>
            </a:r>
          </a:p>
          <a:p>
            <a:r>
              <a:rPr lang="en-US" dirty="0"/>
              <a:t>Maintain session-level memory to support pronoun resolution and automated parameter completion in multi-turn dialogues.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Entity Extraction</a:t>
            </a:r>
          </a:p>
          <a:p>
            <a:r>
              <a:rPr lang="en-US" dirty="0"/>
              <a:t>Identify and extract key entities from conversations to automatically populate tool execution schemas.</a:t>
            </a:r>
          </a:p>
        </p:txBody>
      </p:sp>
    </p:spTree>
    <p:extLst>
      <p:ext uri="{BB962C8B-B14F-4D97-AF65-F5344CB8AC3E}">
        <p14:creationId xmlns:p14="http://schemas.microsoft.com/office/powerpoint/2010/main" val="2714238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4FB7E-62EE-AD81-B648-AC08BE4D89F8}"/>
              </a:ext>
            </a:extLst>
          </p:cNvPr>
          <p:cNvSpPr txBox="1"/>
          <p:nvPr/>
        </p:nvSpPr>
        <p:spPr>
          <a:xfrm>
            <a:off x="705393" y="877011"/>
            <a:ext cx="1101037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4A3A"/>
                </a:solidFill>
              </a:rPr>
              <a:t>3. Standardized Integration &amp; Extensibility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Standardized MCP Integration</a:t>
            </a:r>
          </a:p>
          <a:p>
            <a:r>
              <a:rPr lang="en-US" dirty="0"/>
              <a:t>Leverage Model Context Protocol (MCP) as the core standard to achieve "plug-and-play" tool integration via an aggregated gateway.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Heterogeneous System Compatibility</a:t>
            </a:r>
          </a:p>
          <a:p>
            <a:r>
              <a:rPr lang="en-US" dirty="0"/>
              <a:t>Integrate existing vertical chatbots via standard APIs to protect legacy IT investments.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Metadata-Driven Configuration</a:t>
            </a:r>
          </a:p>
          <a:p>
            <a:r>
              <a:rPr lang="en-US" dirty="0"/>
              <a:t>Enable agent onboarding via metadata updates, eliminating the need to modify the portal’s core codebase.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8965B-4CC7-D46B-5D0A-CEBBF0A88050}"/>
              </a:ext>
            </a:extLst>
          </p:cNvPr>
          <p:cNvSpPr txBox="1"/>
          <p:nvPr/>
        </p:nvSpPr>
        <p:spPr>
          <a:xfrm>
            <a:off x="705393" y="3824403"/>
            <a:ext cx="1101037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4A3A"/>
                </a:solidFill>
              </a:rPr>
              <a:t>4. Security, Monitoring &amp; Governance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Granular Access Control</a:t>
            </a:r>
          </a:p>
          <a:p>
            <a:r>
              <a:rPr lang="en-US" dirty="0"/>
              <a:t>Implement Role-Based Access Control (RBAC) to provide agent-level auditing and protection for sensitive tools and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Full-Chain Execution Monitoring</a:t>
            </a:r>
          </a:p>
          <a:p>
            <a:r>
              <a:rPr lang="en-US" dirty="0"/>
              <a:t>Track the entire lifecycle from intent routing to tool execution for performance monitoring and troubleshooting.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02753-5CE5-2D95-C76C-03395A99FFF4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dirty="0"/>
              <a:t>Project Requirements Overviews (4 perspectives)</a:t>
            </a:r>
          </a:p>
        </p:txBody>
      </p:sp>
    </p:spTree>
    <p:extLst>
      <p:ext uri="{BB962C8B-B14F-4D97-AF65-F5344CB8AC3E}">
        <p14:creationId xmlns:p14="http://schemas.microsoft.com/office/powerpoint/2010/main" val="327178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3938B-76AE-FF3F-B290-3A7D491E1E33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dirty="0"/>
              <a:t>Project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9C54F-91D2-EA18-FEC6-4FD26FE29C22}"/>
              </a:ext>
            </a:extLst>
          </p:cNvPr>
          <p:cNvSpPr txBox="1"/>
          <p:nvPr/>
        </p:nvSpPr>
        <p:spPr>
          <a:xfrm>
            <a:off x="705393" y="883313"/>
            <a:ext cx="1072460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core goal is to establish :</a:t>
            </a:r>
          </a:p>
          <a:p>
            <a:endParaRPr lang="en-US" sz="1100" dirty="0"/>
          </a:p>
          <a:p>
            <a:r>
              <a:rPr lang="en-US" sz="2000" dirty="0"/>
              <a:t>A </a:t>
            </a:r>
            <a:r>
              <a:rPr lang="en-US" sz="2000" b="1" dirty="0">
                <a:solidFill>
                  <a:srgbClr val="264A3A"/>
                </a:solidFill>
              </a:rPr>
              <a:t>unified conversational entry point</a:t>
            </a:r>
            <a:r>
              <a:rPr lang="en-US" sz="2000" dirty="0">
                <a:solidFill>
                  <a:srgbClr val="264A3A"/>
                </a:solidFill>
              </a:rPr>
              <a:t> </a:t>
            </a:r>
            <a:r>
              <a:rPr lang="en-US" sz="2000" dirty="0"/>
              <a:t>that can identify user intent through </a:t>
            </a:r>
            <a:r>
              <a:rPr lang="en-US" sz="2000" b="1" dirty="0">
                <a:solidFill>
                  <a:srgbClr val="264A3A"/>
                </a:solidFill>
              </a:rPr>
              <a:t>intelligent routing</a:t>
            </a:r>
            <a:r>
              <a:rPr lang="en-US" sz="2000" dirty="0"/>
              <a:t>, invoke different AI capabilities via the </a:t>
            </a:r>
            <a:r>
              <a:rPr lang="en-US" sz="2000" b="1" dirty="0">
                <a:solidFill>
                  <a:srgbClr val="264A3A"/>
                </a:solidFill>
              </a:rPr>
              <a:t>MCP aggregation gateway</a:t>
            </a:r>
            <a:r>
              <a:rPr lang="en-US" sz="2000" dirty="0"/>
              <a:t>, or call upon third-party chatbots through </a:t>
            </a:r>
            <a:r>
              <a:rPr lang="en-US" sz="2000" b="1" dirty="0">
                <a:solidFill>
                  <a:srgbClr val="264A3A"/>
                </a:solidFill>
              </a:rPr>
              <a:t>standard APIs</a:t>
            </a:r>
            <a:r>
              <a:rPr lang="en-US" sz="2000" dirty="0">
                <a:solidFill>
                  <a:srgbClr val="264A3A"/>
                </a:solidFill>
              </a:rPr>
              <a:t>.</a:t>
            </a:r>
          </a:p>
        </p:txBody>
      </p:sp>
      <p:sp>
        <p:nvSpPr>
          <p:cNvPr id="3" name="Flowchart: Manual Operation 2">
            <a:extLst>
              <a:ext uri="{FF2B5EF4-FFF2-40B4-BE49-F238E27FC236}">
                <a16:creationId xmlns:a16="http://schemas.microsoft.com/office/drawing/2014/main" id="{AA5D9BC1-BE17-ADD6-8026-9CC830BD4DC2}"/>
              </a:ext>
            </a:extLst>
          </p:cNvPr>
          <p:cNvSpPr/>
          <p:nvPr/>
        </p:nvSpPr>
        <p:spPr>
          <a:xfrm>
            <a:off x="3375316" y="3478292"/>
            <a:ext cx="3300984" cy="1170432"/>
          </a:xfrm>
          <a:prstGeom prst="flowChartManualOperation">
            <a:avLst/>
          </a:prstGeom>
          <a:solidFill>
            <a:srgbClr val="264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2ECD5-570E-8E2B-B4CE-460B9BB87DC4}"/>
              </a:ext>
            </a:extLst>
          </p:cNvPr>
          <p:cNvSpPr txBox="1"/>
          <p:nvPr/>
        </p:nvSpPr>
        <p:spPr>
          <a:xfrm>
            <a:off x="3776472" y="3694176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Technical    Feasibility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1662B-9563-9CE8-81E3-86310E5DE71C}"/>
              </a:ext>
            </a:extLst>
          </p:cNvPr>
          <p:cNvSpPr txBox="1"/>
          <p:nvPr/>
        </p:nvSpPr>
        <p:spPr>
          <a:xfrm>
            <a:off x="4079404" y="4063508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MVP Core Path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3DFD06-1264-EF9D-E3F8-4316FACDA6EE}"/>
              </a:ext>
            </a:extLst>
          </p:cNvPr>
          <p:cNvSpPr/>
          <p:nvPr/>
        </p:nvSpPr>
        <p:spPr>
          <a:xfrm>
            <a:off x="3992536" y="2753983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FFA337-5A80-BBF3-B03B-92C876B7E5E0}"/>
              </a:ext>
            </a:extLst>
          </p:cNvPr>
          <p:cNvSpPr/>
          <p:nvPr/>
        </p:nvSpPr>
        <p:spPr>
          <a:xfrm>
            <a:off x="4304728" y="3188529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EDED4A-18C7-2896-B8E9-215192593586}"/>
              </a:ext>
            </a:extLst>
          </p:cNvPr>
          <p:cNvSpPr/>
          <p:nvPr/>
        </p:nvSpPr>
        <p:spPr>
          <a:xfrm>
            <a:off x="4648200" y="2592892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CA08EE-49EF-DC17-F920-08C8EE415F1A}"/>
              </a:ext>
            </a:extLst>
          </p:cNvPr>
          <p:cNvSpPr/>
          <p:nvPr/>
        </p:nvSpPr>
        <p:spPr>
          <a:xfrm>
            <a:off x="4735068" y="3295412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E6D783-715C-A03F-B917-5C456ADDE0D5}"/>
              </a:ext>
            </a:extLst>
          </p:cNvPr>
          <p:cNvSpPr/>
          <p:nvPr/>
        </p:nvSpPr>
        <p:spPr>
          <a:xfrm>
            <a:off x="5106924" y="2741187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F47E64-79FD-BAD8-FB00-D629F78B5724}"/>
              </a:ext>
            </a:extLst>
          </p:cNvPr>
          <p:cNvSpPr/>
          <p:nvPr/>
        </p:nvSpPr>
        <p:spPr>
          <a:xfrm>
            <a:off x="5618988" y="2768798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3DAE23-0B4D-AE05-FC44-152897907A66}"/>
              </a:ext>
            </a:extLst>
          </p:cNvPr>
          <p:cNvSpPr/>
          <p:nvPr/>
        </p:nvSpPr>
        <p:spPr>
          <a:xfrm>
            <a:off x="5153787" y="3175034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D04053-F8A1-0798-5B2A-F968CB3D98C5}"/>
              </a:ext>
            </a:extLst>
          </p:cNvPr>
          <p:cNvSpPr/>
          <p:nvPr/>
        </p:nvSpPr>
        <p:spPr>
          <a:xfrm>
            <a:off x="5612130" y="3295412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57358DE-812E-9A80-1581-103796DB04D3}"/>
              </a:ext>
            </a:extLst>
          </p:cNvPr>
          <p:cNvSpPr/>
          <p:nvPr/>
        </p:nvSpPr>
        <p:spPr>
          <a:xfrm>
            <a:off x="6032755" y="2901809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410133-9477-8B48-F7FC-013579977732}"/>
              </a:ext>
            </a:extLst>
          </p:cNvPr>
          <p:cNvSpPr/>
          <p:nvPr/>
        </p:nvSpPr>
        <p:spPr>
          <a:xfrm>
            <a:off x="4648200" y="4881896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6FDF74-64E4-B4EE-28F0-0161407F6DAE}"/>
              </a:ext>
            </a:extLst>
          </p:cNvPr>
          <p:cNvSpPr/>
          <p:nvPr/>
        </p:nvSpPr>
        <p:spPr>
          <a:xfrm>
            <a:off x="5280660" y="5367100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827B85-445F-91FB-3388-C28C7AB1F519}"/>
              </a:ext>
            </a:extLst>
          </p:cNvPr>
          <p:cNvSpPr/>
          <p:nvPr/>
        </p:nvSpPr>
        <p:spPr>
          <a:xfrm>
            <a:off x="5020056" y="4821460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DFE985-CEE6-2875-DB34-A937FF0BE737}"/>
              </a:ext>
            </a:extLst>
          </p:cNvPr>
          <p:cNvSpPr/>
          <p:nvPr/>
        </p:nvSpPr>
        <p:spPr>
          <a:xfrm>
            <a:off x="4735068" y="5443252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07337DD-0C42-C16A-F361-7477DEF09520}"/>
              </a:ext>
            </a:extLst>
          </p:cNvPr>
          <p:cNvSpPr/>
          <p:nvPr/>
        </p:nvSpPr>
        <p:spPr>
          <a:xfrm>
            <a:off x="3728085" y="3197352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C12E93-7AE7-B80E-5293-FE67C369B41F}"/>
              </a:ext>
            </a:extLst>
          </p:cNvPr>
          <p:cNvSpPr/>
          <p:nvPr/>
        </p:nvSpPr>
        <p:spPr>
          <a:xfrm>
            <a:off x="6181344" y="3205972"/>
            <a:ext cx="173736" cy="118872"/>
          </a:xfrm>
          <a:prstGeom prst="ellipse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8E812-BFFB-1536-33A4-0761A6E27280}"/>
              </a:ext>
            </a:extLst>
          </p:cNvPr>
          <p:cNvSpPr txBox="1"/>
          <p:nvPr/>
        </p:nvSpPr>
        <p:spPr>
          <a:xfrm>
            <a:off x="4284725" y="2822409"/>
            <a:ext cx="172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 user stories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F65328-DC0A-B67A-1536-5B0C54866684}"/>
              </a:ext>
            </a:extLst>
          </p:cNvPr>
          <p:cNvSpPr txBox="1"/>
          <p:nvPr/>
        </p:nvSpPr>
        <p:spPr>
          <a:xfrm>
            <a:off x="4018027" y="5018056"/>
            <a:ext cx="2429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user stories(MVP)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129AB63C-6463-7917-EE09-F17EF8B2CF4F}"/>
              </a:ext>
            </a:extLst>
          </p:cNvPr>
          <p:cNvSpPr/>
          <p:nvPr/>
        </p:nvSpPr>
        <p:spPr>
          <a:xfrm>
            <a:off x="3033522" y="3478292"/>
            <a:ext cx="260604" cy="1170432"/>
          </a:xfrm>
          <a:prstGeom prst="downArrow">
            <a:avLst/>
          </a:prstGeom>
          <a:solidFill>
            <a:srgbClr val="75A7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473BB-3DDF-2DB9-0C8F-D370B0846D31}"/>
              </a:ext>
            </a:extLst>
          </p:cNvPr>
          <p:cNvSpPr txBox="1"/>
          <p:nvPr/>
        </p:nvSpPr>
        <p:spPr>
          <a:xfrm>
            <a:off x="705393" y="143691"/>
            <a:ext cx="10724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b="1" dirty="0"/>
              <a:t>Core Architecture: Intelligent Routing &amp; MCP Aggregation Gateway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CE242-DCDD-5C55-4786-66D671322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012" y="705160"/>
            <a:ext cx="4101314" cy="5784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6A8D43-E9A1-64A2-89B7-CBFA3BA60F71}"/>
              </a:ext>
            </a:extLst>
          </p:cNvPr>
          <p:cNvSpPr txBox="1"/>
          <p:nvPr/>
        </p:nvSpPr>
        <p:spPr>
          <a:xfrm>
            <a:off x="762000" y="1289185"/>
            <a:ext cx="6708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E1: Portal Frontend </a:t>
            </a:r>
          </a:p>
          <a:p>
            <a:r>
              <a:rPr lang="en-US" sz="1600" dirty="0"/>
              <a:t>Provides a unified conversational interface for natural language input</a:t>
            </a:r>
            <a:endParaRPr lang="en-US" sz="1600" dirty="0">
              <a:solidFill>
                <a:srgbClr val="264A3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EE841-03D9-526A-FC87-C91E0F2D30BF}"/>
              </a:ext>
            </a:extLst>
          </p:cNvPr>
          <p:cNvSpPr txBox="1"/>
          <p:nvPr/>
        </p:nvSpPr>
        <p:spPr>
          <a:xfrm>
            <a:off x="762000" y="1995488"/>
            <a:ext cx="67086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E2: Agent Integration Layer </a:t>
            </a:r>
            <a:br>
              <a:rPr lang="en-US" sz="1600" dirty="0"/>
            </a:br>
            <a:r>
              <a:rPr lang="en-US" sz="1600" dirty="0"/>
              <a:t>Acts as a protocol bridge to adapt MCP and standard APIs, enabling seamless integration and metadata normalization for heterogeneous agents</a:t>
            </a:r>
            <a:endParaRPr lang="en-US" sz="1600" dirty="0">
              <a:solidFill>
                <a:srgbClr val="264A3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58A92-02D7-4432-E922-D87989DB4FB1}"/>
              </a:ext>
            </a:extLst>
          </p:cNvPr>
          <p:cNvSpPr txBox="1"/>
          <p:nvPr/>
        </p:nvSpPr>
        <p:spPr>
          <a:xfrm>
            <a:off x="762000" y="3111787"/>
            <a:ext cx="670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E3: Agent Discovery &amp; Overview</a:t>
            </a:r>
            <a:br>
              <a:rPr lang="en-US" sz="1600" dirty="0"/>
            </a:br>
            <a:r>
              <a:rPr lang="en-US" sz="1600" dirty="0"/>
              <a:t>Maintains a centralized registry of agent semantic descriptions and parameter schemas to support dynamic capability discovery by the LLM.</a:t>
            </a:r>
            <a:endParaRPr lang="en-US" sz="1600" dirty="0">
              <a:solidFill>
                <a:srgbClr val="264A3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5B35A-A098-278A-5DBD-3D6F4153E5CD}"/>
              </a:ext>
            </a:extLst>
          </p:cNvPr>
          <p:cNvSpPr txBox="1"/>
          <p:nvPr/>
        </p:nvSpPr>
        <p:spPr>
          <a:xfrm>
            <a:off x="762000" y="4081091"/>
            <a:ext cx="670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E4: Agent Execution</a:t>
            </a:r>
            <a:br>
              <a:rPr lang="en-US" sz="1600" dirty="0"/>
            </a:br>
            <a:r>
              <a:rPr lang="en-US" sz="1600" dirty="0"/>
              <a:t>Manages task lifecycles, including concurrent dispatching, timeout control, and error handling to ensure stable and efficient execution.</a:t>
            </a:r>
            <a:endParaRPr lang="en-US" sz="1600" dirty="0">
              <a:solidFill>
                <a:srgbClr val="264A3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5593F6-F254-B957-4706-DC9D547A0AF9}"/>
              </a:ext>
            </a:extLst>
          </p:cNvPr>
          <p:cNvSpPr txBox="1"/>
          <p:nvPr/>
        </p:nvSpPr>
        <p:spPr>
          <a:xfrm>
            <a:off x="792172" y="5098165"/>
            <a:ext cx="670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E5: Intelligent Routing &amp; Session Logic </a:t>
            </a:r>
            <a:br>
              <a:rPr lang="en-US" sz="1600" dirty="0"/>
            </a:br>
            <a:r>
              <a:rPr lang="en-US" sz="1600" dirty="0"/>
              <a:t>Analyzes user intent using LLMs and integrates session history for context-aware routing and automated fallback to general LLMs.</a:t>
            </a:r>
            <a:endParaRPr lang="en-US" sz="1600" dirty="0">
              <a:solidFill>
                <a:srgbClr val="264A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96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A17B04-9659-E377-EB3D-982413DB7AE9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b="1" dirty="0"/>
              <a:t>Milestones &amp; Acceptance Criteria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D55EE-EA46-6CB5-93D4-D0B078EFCF9D}"/>
              </a:ext>
            </a:extLst>
          </p:cNvPr>
          <p:cNvSpPr txBox="1"/>
          <p:nvPr/>
        </p:nvSpPr>
        <p:spPr>
          <a:xfrm>
            <a:off x="813816" y="932688"/>
            <a:ext cx="87965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M1: Foundation &amp; Protocol Prototyping (Weeks 1-5)</a:t>
            </a:r>
          </a:p>
          <a:p>
            <a:br>
              <a:rPr lang="en-US" dirty="0"/>
            </a:br>
            <a:r>
              <a:rPr lang="en-US" dirty="0"/>
              <a:t>Core Objective: Establish backend infrastructure and ensure connectivity with external tools. </a:t>
            </a:r>
          </a:p>
          <a:p>
            <a:br>
              <a:rPr lang="en-US" dirty="0"/>
            </a:br>
            <a:r>
              <a:rPr lang="en-US" altLang="ja-JP" dirty="0"/>
              <a:t>1.1 </a:t>
            </a:r>
            <a:r>
              <a:rPr lang="en-US" dirty="0"/>
              <a:t>Session Storage </a:t>
            </a:r>
            <a:br>
              <a:rPr lang="en-US" dirty="0"/>
            </a:br>
            <a:r>
              <a:rPr lang="en-US" dirty="0"/>
              <a:t>AC: Implement Session-ID indexed storage in Redis/SQLite; ensure full message history is persistent and retrievable. </a:t>
            </a:r>
          </a:p>
          <a:p>
            <a:br>
              <a:rPr lang="en-US" dirty="0"/>
            </a:br>
            <a:r>
              <a:rPr lang="en-US" altLang="ja-JP" dirty="0"/>
              <a:t>1.2 </a:t>
            </a:r>
            <a:r>
              <a:rPr lang="en-US" dirty="0"/>
              <a:t>MCP Gateway Integration </a:t>
            </a:r>
            <a:br>
              <a:rPr lang="en-US" dirty="0"/>
            </a:br>
            <a:r>
              <a:rPr lang="en-US" dirty="0"/>
              <a:t>AC: Establish stable connection with MCP Aggregated Gateway; successfully retrieve downstream tool metadata</a:t>
            </a:r>
          </a:p>
          <a:p>
            <a:br>
              <a:rPr lang="en-US" dirty="0"/>
            </a:br>
            <a:r>
              <a:rPr lang="en-US" altLang="ja-JP" dirty="0"/>
              <a:t>1.3 </a:t>
            </a:r>
            <a:r>
              <a:rPr lang="en-US" dirty="0"/>
              <a:t>Capability Registry </a:t>
            </a:r>
            <a:br>
              <a:rPr lang="en-US" dirty="0"/>
            </a:br>
            <a:r>
              <a:rPr lang="en-US" dirty="0"/>
              <a:t>AC: Consolidate MCP tools and standard API bots into a unified registry for dynamic discovery.</a:t>
            </a:r>
          </a:p>
        </p:txBody>
      </p:sp>
    </p:spTree>
    <p:extLst>
      <p:ext uri="{BB962C8B-B14F-4D97-AF65-F5344CB8AC3E}">
        <p14:creationId xmlns:p14="http://schemas.microsoft.com/office/powerpoint/2010/main" val="3931489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5F06-DD20-1239-EFCC-CC9F8568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9822-64C8-E863-EF05-5B8EF2602D0A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b="1" dirty="0"/>
              <a:t>Milestones &amp; Acceptance Criteria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4DD5-50A0-7D84-A8D3-3EC06B60D297}"/>
              </a:ext>
            </a:extLst>
          </p:cNvPr>
          <p:cNvSpPr txBox="1"/>
          <p:nvPr/>
        </p:nvSpPr>
        <p:spPr>
          <a:xfrm>
            <a:off x="813816" y="932688"/>
            <a:ext cx="87965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M2: Core Intelligence: Routing &amp; Context (Weeks 6-10)</a:t>
            </a:r>
          </a:p>
          <a:p>
            <a:br>
              <a:rPr lang="en-US" dirty="0"/>
            </a:br>
            <a:r>
              <a:rPr lang="en-US" dirty="0"/>
              <a:t>Core Objective: Implement intent recognition and context-aware multi-turn conversation. </a:t>
            </a:r>
          </a:p>
          <a:p>
            <a:br>
              <a:rPr lang="en-US" dirty="0"/>
            </a:br>
            <a:r>
              <a:rPr lang="en-US" altLang="ja-JP" dirty="0"/>
              <a:t>2.1 </a:t>
            </a:r>
            <a:r>
              <a:rPr lang="en-US" dirty="0"/>
              <a:t>Contextual Memory Injection </a:t>
            </a:r>
            <a:br>
              <a:rPr lang="en-US" dirty="0"/>
            </a:br>
            <a:r>
              <a:rPr lang="en-US" dirty="0"/>
              <a:t>AC: Automatically retrieve the latest N-turn history and inject it into the LLM prompt for context awareness.</a:t>
            </a:r>
          </a:p>
          <a:p>
            <a:br>
              <a:rPr lang="en-US" dirty="0"/>
            </a:br>
            <a:r>
              <a:rPr lang="en-US" altLang="ja-JP" dirty="0"/>
              <a:t>2.2 </a:t>
            </a:r>
            <a:r>
              <a:rPr lang="en-US" dirty="0"/>
              <a:t>Intent Routing &amp; Fallback</a:t>
            </a:r>
            <a:br>
              <a:rPr lang="en-US" dirty="0"/>
            </a:br>
            <a:r>
              <a:rPr lang="en-US" dirty="0"/>
              <a:t>AC: Router correctly dispatches tasks to MCP tools, API bots, or general LLM based on user intent.</a:t>
            </a:r>
          </a:p>
          <a:p>
            <a:br>
              <a:rPr lang="en-US" dirty="0"/>
            </a:br>
            <a:r>
              <a:rPr lang="en-US" altLang="ja-JP" dirty="0"/>
              <a:t>2.3 </a:t>
            </a:r>
            <a:r>
              <a:rPr lang="en-US" dirty="0"/>
              <a:t>Reference resolution</a:t>
            </a:r>
            <a:br>
              <a:rPr lang="en-US" dirty="0"/>
            </a:br>
            <a:r>
              <a:rPr lang="en-US" dirty="0"/>
              <a:t>AC: Resolve pronouns (e.g., "it", "him") and extract missing parameters from session history.</a:t>
            </a:r>
          </a:p>
        </p:txBody>
      </p:sp>
    </p:spTree>
    <p:extLst>
      <p:ext uri="{BB962C8B-B14F-4D97-AF65-F5344CB8AC3E}">
        <p14:creationId xmlns:p14="http://schemas.microsoft.com/office/powerpoint/2010/main" val="2038110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2AC426-23E7-57F7-E346-BDB2F34012FF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b="1" dirty="0"/>
              <a:t>Milestones &amp; Acceptance Criteria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EF2E5-961E-0B98-E502-C747821F8481}"/>
              </a:ext>
            </a:extLst>
          </p:cNvPr>
          <p:cNvSpPr txBox="1"/>
          <p:nvPr/>
        </p:nvSpPr>
        <p:spPr>
          <a:xfrm>
            <a:off x="813816" y="932688"/>
            <a:ext cx="87965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M3: Execution Engine &amp; Hybrid Integration (Weeks 11-13)</a:t>
            </a:r>
          </a:p>
          <a:p>
            <a:br>
              <a:rPr lang="en-US" dirty="0"/>
            </a:br>
            <a:r>
              <a:rPr lang="en-US" dirty="0"/>
              <a:t>Core Objective: Orchestrate external calls across heterogeneous protocols (MCP &amp; API).</a:t>
            </a:r>
          </a:p>
          <a:p>
            <a:br>
              <a:rPr lang="en-US" dirty="0"/>
            </a:br>
            <a:r>
              <a:rPr lang="en-US" altLang="ja-JP" dirty="0"/>
              <a:t>3.1 </a:t>
            </a:r>
            <a:r>
              <a:rPr lang="en-US" dirty="0"/>
              <a:t>Task Execution (MCP &amp; API)</a:t>
            </a:r>
            <a:br>
              <a:rPr lang="en-US" dirty="0"/>
            </a:br>
            <a:r>
              <a:rPr lang="en-US" dirty="0"/>
              <a:t>AC: Execute `</a:t>
            </a:r>
            <a:r>
              <a:rPr lang="en-US" dirty="0" err="1"/>
              <a:t>call_tool</a:t>
            </a:r>
            <a:r>
              <a:rPr lang="en-US" dirty="0"/>
              <a:t>` via MCP and handle standard HTTP requests for vertical domain bots.</a:t>
            </a:r>
          </a:p>
          <a:p>
            <a:br>
              <a:rPr lang="en-US" dirty="0"/>
            </a:br>
            <a:r>
              <a:rPr lang="en-US" altLang="ja-JP" dirty="0"/>
              <a:t>3.2 </a:t>
            </a:r>
            <a:r>
              <a:rPr lang="en-US" dirty="0"/>
              <a:t>Data Normalization</a:t>
            </a:r>
            <a:br>
              <a:rPr lang="en-US" dirty="0"/>
            </a:br>
            <a:r>
              <a:rPr lang="en-US" dirty="0"/>
              <a:t>AC: Transform diverse responses (JSON/Text) into a unified message object (Text/Table/Status).</a:t>
            </a:r>
          </a:p>
          <a:p>
            <a:br>
              <a:rPr lang="en-US" dirty="0"/>
            </a:br>
            <a:r>
              <a:rPr lang="en-US" altLang="ja-JP" dirty="0"/>
              <a:t>3.3 </a:t>
            </a:r>
            <a:r>
              <a:rPr lang="en-US" dirty="0"/>
              <a:t>Memory Write-back</a:t>
            </a:r>
            <a:br>
              <a:rPr lang="en-US" dirty="0"/>
            </a:br>
            <a:r>
              <a:rPr lang="en-US" dirty="0"/>
              <a:t>AC: Automatically update Session DB with execution results to maintain continuous context.</a:t>
            </a:r>
          </a:p>
        </p:txBody>
      </p:sp>
    </p:spTree>
    <p:extLst>
      <p:ext uri="{BB962C8B-B14F-4D97-AF65-F5344CB8AC3E}">
        <p14:creationId xmlns:p14="http://schemas.microsoft.com/office/powerpoint/2010/main" val="115429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A5174F-198D-A56E-9235-29DC7DAC18AA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b="1" dirty="0"/>
              <a:t>Milestones &amp; Acceptance Criteria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ED9F1-C3BC-4F71-C950-53D5D52EC501}"/>
              </a:ext>
            </a:extLst>
          </p:cNvPr>
          <p:cNvSpPr txBox="1"/>
          <p:nvPr/>
        </p:nvSpPr>
        <p:spPr>
          <a:xfrm>
            <a:off x="813816" y="932688"/>
            <a:ext cx="87965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M4: Portal Interface &amp; E2E Validation (Weeks 14-16)</a:t>
            </a:r>
          </a:p>
          <a:p>
            <a:br>
              <a:rPr lang="en-US" dirty="0"/>
            </a:br>
            <a:r>
              <a:rPr lang="en-US" dirty="0"/>
              <a:t>Core Objective: Deliver a seamless UI and ensure end-to-end system reliability.</a:t>
            </a:r>
          </a:p>
          <a:p>
            <a:br>
              <a:rPr lang="en-US" dirty="0"/>
            </a:br>
            <a:r>
              <a:rPr lang="en-US" altLang="ja-JP" dirty="0"/>
              <a:t>4.1 </a:t>
            </a:r>
            <a:r>
              <a:rPr lang="en-US" dirty="0"/>
              <a:t>Conversational Chat UI</a:t>
            </a:r>
          </a:p>
          <a:p>
            <a:r>
              <a:rPr lang="en-US" dirty="0"/>
              <a:t>AC: Deploy a clean UI with clear source labeling (e.g., "From: Finance Bot").</a:t>
            </a:r>
          </a:p>
          <a:p>
            <a:br>
              <a:rPr lang="en-US" dirty="0"/>
            </a:br>
            <a:r>
              <a:rPr lang="en-US" altLang="ja-JP" dirty="0"/>
              <a:t>4.2 </a:t>
            </a:r>
            <a:r>
              <a:rPr lang="en-US" dirty="0"/>
              <a:t>Real-time Feedback</a:t>
            </a:r>
            <a:br>
              <a:rPr lang="en-US" dirty="0"/>
            </a:br>
            <a:r>
              <a:rPr lang="en-US" dirty="0"/>
              <a:t>AC: Display active "Calling [Agent]..." status indicators during external execution.</a:t>
            </a:r>
          </a:p>
          <a:p>
            <a:br>
              <a:rPr lang="en-US" dirty="0"/>
            </a:br>
            <a:r>
              <a:rPr lang="en-US" altLang="ja-JP" dirty="0"/>
              <a:t>4.3 </a:t>
            </a:r>
            <a:r>
              <a:rPr lang="en-US" dirty="0"/>
              <a:t>E2E Integrity &amp; Error Handling</a:t>
            </a:r>
            <a:br>
              <a:rPr lang="en-US" dirty="0"/>
            </a:br>
            <a:r>
              <a:rPr lang="en-US" dirty="0"/>
              <a:t>AC: Complete "Input-Route-Execute-Respond" loop with graceful handling of timeouts and API errors.</a:t>
            </a:r>
          </a:p>
        </p:txBody>
      </p:sp>
    </p:spTree>
    <p:extLst>
      <p:ext uri="{BB962C8B-B14F-4D97-AF65-F5344CB8AC3E}">
        <p14:creationId xmlns:p14="http://schemas.microsoft.com/office/powerpoint/2010/main" val="375137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7AA8F6-0C8E-89DE-C96F-AF2DBBF216A2}"/>
              </a:ext>
            </a:extLst>
          </p:cNvPr>
          <p:cNvSpPr txBox="1"/>
          <p:nvPr/>
        </p:nvSpPr>
        <p:spPr>
          <a:xfrm>
            <a:off x="705393" y="143691"/>
            <a:ext cx="1072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3200" b="1" dirty="0"/>
              <a:t>Future Evolution Plan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8A6B7-872C-472B-A62E-783F727723D3}"/>
              </a:ext>
            </a:extLst>
          </p:cNvPr>
          <p:cNvSpPr txBox="1"/>
          <p:nvPr/>
        </p:nvSpPr>
        <p:spPr>
          <a:xfrm>
            <a:off x="705393" y="943417"/>
            <a:ext cx="110103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4A3A"/>
                </a:solidFill>
              </a:rPr>
              <a:t>1. System Observability &amp; Usage Analytics 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Full-Chain Execution Logging</a:t>
            </a:r>
            <a:endParaRPr lang="en-US" b="1" dirty="0"/>
          </a:p>
          <a:p>
            <a:r>
              <a:rPr lang="en-US" dirty="0"/>
              <a:t>Log all user queries and tool execution chains for real-time performance monitoring and rapid troubleshooting.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Adoption Analytics</a:t>
            </a:r>
            <a:endParaRPr lang="en-US" b="1" dirty="0"/>
          </a:p>
          <a:p>
            <a:r>
              <a:rPr lang="en-US" dirty="0"/>
              <a:t>Track usage metrics across different agents to measure user adoption and evaluate the business impact.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615C5-A1F6-2F5F-A4E8-4FE604533E0B}"/>
              </a:ext>
            </a:extLst>
          </p:cNvPr>
          <p:cNvSpPr txBox="1"/>
          <p:nvPr/>
        </p:nvSpPr>
        <p:spPr>
          <a:xfrm>
            <a:off x="705393" y="3021852"/>
            <a:ext cx="1101037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4A3A"/>
                </a:solidFill>
              </a:rPr>
              <a:t>2. Developer Enablement &amp; Standardization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Standardized Onboarding Framework</a:t>
            </a:r>
            <a:endParaRPr lang="en-US" b="1" dirty="0"/>
          </a:p>
          <a:p>
            <a:r>
              <a:rPr lang="en-US" dirty="0"/>
              <a:t>Establish mandatory API architecture checklists and MCP description guidelines for seamless technical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Configuration Validation</a:t>
            </a:r>
            <a:endParaRPr lang="en-US" b="1" dirty="0"/>
          </a:p>
          <a:p>
            <a:r>
              <a:rPr lang="en-US" dirty="0"/>
              <a:t>Implement JSON Schema validation for MCP entries to catch configuration errors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82027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A7479-FE59-40CC-E7F9-D0D35AC4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BB50-D001-A0BC-5B6D-F115C8B3C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9914" y="2918978"/>
            <a:ext cx="2500783" cy="1675485"/>
          </a:xfrm>
        </p:spPr>
        <p:txBody>
          <a:bodyPr/>
          <a:lstStyle/>
          <a:p>
            <a:r>
              <a:rPr lang="en-US" dirty="0"/>
              <a:t>Thanks !</a:t>
            </a:r>
          </a:p>
        </p:txBody>
      </p:sp>
    </p:spTree>
    <p:extLst>
      <p:ext uri="{BB962C8B-B14F-4D97-AF65-F5344CB8AC3E}">
        <p14:creationId xmlns:p14="http://schemas.microsoft.com/office/powerpoint/2010/main" val="120751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19695</TotalTime>
  <Words>967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Agentic Portal: A Unified AI Agent Gateway &amp; Orchestration MVP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!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Vivien (M/BDO4-PU)</dc:creator>
  <cp:lastModifiedBy>ZHENG Vivien (M/BDO4-PU)</cp:lastModifiedBy>
  <cp:revision>1</cp:revision>
  <cp:lastPrinted>2026-03-30T07:36:29Z</cp:lastPrinted>
  <dcterms:created xsi:type="dcterms:W3CDTF">2026-01-06T06:54:55Z</dcterms:created>
  <dcterms:modified xsi:type="dcterms:W3CDTF">2026-04-29T09:38:16Z</dcterms:modified>
</cp:coreProperties>
</file>